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3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52F1-0661-2CAD-4DC5-742CC4554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A0F6C0-D72E-6565-174B-6739677B8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724C1-F0B1-0A2B-A091-238583153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168D-CAAA-4745-BE7C-DCC68A27CFB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BBA99-1D68-48F2-6AE4-B98983EB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A7C6D-4F61-28B4-7777-CEF27BA01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0F971-6C8D-4C55-846D-527BDABF2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565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E8F4-9A65-EB45-2DB0-D80ED24D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DBAA-C462-0250-B07E-C04F6124B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F242D-E7F5-7548-D86F-E3120AA9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168D-CAAA-4745-BE7C-DCC68A27CFB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1535A-A843-0BAB-AB29-36FE1F5A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BDE10-39CC-4BA2-8EDC-02A6A154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0F971-6C8D-4C55-846D-527BDABF2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243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9F37-318A-7C27-9D87-15E9F5AB6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E78F6-B7AE-D0DA-2B3E-FAE2A35FF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23BE1-0EE2-F8F3-4A58-92CEBD09E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168D-CAAA-4745-BE7C-DCC68A27CFB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533F5-999A-15AC-B960-C02D65002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04B33-AF00-4EC8-CCDB-EFCE87DF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0F971-6C8D-4C55-846D-527BDABF2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733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8AB8-4070-1306-C8F5-D5456EF0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442C8-FEFE-A208-D4FE-1649ED665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B2FFC-53FF-D2C3-2901-7500437C4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5F0C3-0CDE-5073-B9FC-A3FE20BD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168D-CAAA-4745-BE7C-DCC68A27CFB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0DB64-2CB2-40F3-1768-149DEE7E6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A868A-9A52-11D1-E974-4B32763A0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0F971-6C8D-4C55-846D-527BDABF2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580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EA792-D751-9DE8-079B-4625003F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96050-F23C-27BB-33AA-57606A17B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EE5D2-92B1-2591-930E-584B86E76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966E0-1055-1283-267A-9EA491BA2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10FEF-BCCC-09A7-1DCD-009E5D284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88F958-A353-7112-89CF-37940CD0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168D-CAAA-4745-BE7C-DCC68A27CFB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8367A4-E3E2-BD75-19B1-71F104DD1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72B1D6-0A21-3252-DB17-6AE4B2DC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0F971-6C8D-4C55-846D-527BDABF2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04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DEC6-CF66-3D82-B057-90FC14A35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EBA4D-3DAF-840D-9F90-D99640089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168D-CAAA-4745-BE7C-DCC68A27CFB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6C33B-DDB4-60C1-E149-BAD57FD07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B2A44-A268-2C5C-802A-364B7DD0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0F971-6C8D-4C55-846D-527BDABF2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21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37B80-A03B-394B-4121-EF807F93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168D-CAAA-4745-BE7C-DCC68A27CFB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59F0C-FC9C-4D06-265C-5A4332960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F0AE4-FD77-77AB-3D22-21B4FE3DB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0F971-6C8D-4C55-846D-527BDABF2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13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82A9-A0EC-4958-A16F-D016CFBC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F60F1-B992-0B43-2EA0-4F4A2EDD8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FC2B1-07B4-5ED8-3AF0-92E80FB36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9C8F7-6A59-6949-A6CF-96B4F0A02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168D-CAAA-4745-BE7C-DCC68A27CFB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C16A1-9589-0663-B914-1D55FED2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0A81E-8007-EB8B-09D7-03936D01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0F971-6C8D-4C55-846D-527BDABF2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977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574D-71A3-3B10-2DBA-5110288D4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1E8A13-5BB0-C7C4-CEE3-2B6E444EED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9D99C-694C-0400-472F-C8DB2C064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CA989-AE04-FE27-9B72-5B0E71C0D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168D-CAAA-4745-BE7C-DCC68A27CFB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D8BCA-8A71-1D93-CB98-BD5EAF87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5E274-BCDF-F2BF-607B-577BFE31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0F971-6C8D-4C55-846D-527BDABF2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89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02CD3-58C0-2527-6979-D51F2412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BDD29-1047-1B0A-E7B7-93CF44566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8BF74-FCD1-48E9-4B70-ED834A8AD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168D-CAAA-4745-BE7C-DCC68A27CFB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38EEC-14AA-F65C-D06E-19674D95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13BEF-ABCC-9755-8383-8F48BF66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0F971-6C8D-4C55-846D-527BDABF2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658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FA0469-8867-5697-76BD-2CFA40FB4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822EAF-5E87-D156-1899-7864D48B9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43D79-05D4-7DFC-D88B-E357835D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168D-CAAA-4745-BE7C-DCC68A27CFB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A8A8F-0914-6EF3-53C7-5965FF2B9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C70CE-60C9-1BE8-2C9E-BA16DFE1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0F971-6C8D-4C55-846D-527BDABF2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992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BC6471-76B5-8477-C4DF-C50A3C56A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B12DC-3E2F-1A97-7808-1F6F8C11A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5E3E0-BAD1-3531-4A6A-01B2463DD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D168D-CAAA-4745-BE7C-DCC68A27CFB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336FA-22CC-7709-E801-30124862D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4127F-5049-5AC6-C114-6E8FE72D3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0F971-6C8D-4C55-846D-527BDABF23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89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F08E1B-A8B4-947B-FFAE-052B5C70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1612490"/>
            <a:ext cx="10215716" cy="3645310"/>
          </a:xfrm>
        </p:spPr>
        <p:txBody>
          <a:bodyPr>
            <a:normAutofit/>
          </a:bodyPr>
          <a:lstStyle/>
          <a:p>
            <a:r>
              <a:rPr lang="en-IN" dirty="0"/>
              <a:t>Name:      Shivani </a:t>
            </a:r>
          </a:p>
          <a:p>
            <a:r>
              <a:rPr lang="en-IN" dirty="0"/>
              <a:t>                     Sanjaya</a:t>
            </a:r>
          </a:p>
          <a:p>
            <a:r>
              <a:rPr lang="en-IN" dirty="0"/>
              <a:t>                        Saveetha</a:t>
            </a:r>
          </a:p>
          <a:p>
            <a:r>
              <a:rPr lang="en-IN" dirty="0"/>
              <a:t>                       Sowmiya</a:t>
            </a:r>
          </a:p>
          <a:p>
            <a:r>
              <a:rPr lang="en-IN" dirty="0"/>
              <a:t>                            Pranitha </a:t>
            </a:r>
            <a:r>
              <a:rPr lang="en-IN" dirty="0" err="1"/>
              <a:t>sri</a:t>
            </a:r>
            <a:endParaRPr lang="en-IN" dirty="0"/>
          </a:p>
          <a:p>
            <a:r>
              <a:rPr lang="en-IN" dirty="0"/>
              <a:t>                      Srimathi</a:t>
            </a:r>
          </a:p>
          <a:p>
            <a:r>
              <a:rPr lang="en-IN" dirty="0"/>
              <a:t>Subject code: </a:t>
            </a:r>
          </a:p>
          <a:p>
            <a:r>
              <a:rPr lang="en-IN" dirty="0" err="1"/>
              <a:t>Subject:Physics</a:t>
            </a:r>
            <a:r>
              <a:rPr lang="en-IN" dirty="0"/>
              <a:t> for computer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681782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DCFA-D0C2-364F-AFAE-1F8007AD9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6068D-7284-4E54-A116-95D174870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00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1FFD3-1908-D8EA-0C39-BBE856742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ABAA3-54CF-DF84-48EC-D7539BD21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63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908D-B57C-795B-2C51-98E3BDD0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A8F05-8A90-DF4E-AA1C-6E7C4820B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458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BCDE8-9376-FD36-1C20-B1DC4024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Hjkfqeqejbfqf</a:t>
            </a: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13411-E0C8-A868-5881-F7D8F438E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84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BE754-A4B6-F84A-9155-5F6F98B0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999C2-0D09-6F0F-F65D-176BF0D1E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916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B5E-7409-B14A-BD94-D04DB8B9A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Calculate interplanar distance, crystal size (grain size), </a:t>
            </a:r>
            <a:r>
              <a:rPr lang="en-US" sz="2400" dirty="0" err="1"/>
              <a:t>hkl</a:t>
            </a:r>
            <a:r>
              <a:rPr lang="en-US" sz="2400" dirty="0"/>
              <a:t> value, lattice parameter and crystal structure. Given as 2 θ and β value.</a:t>
            </a:r>
            <a:endParaRPr lang="en-IN" sz="2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A9A430-F8CB-2F70-D69E-9C41362F25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3769404"/>
              </p:ext>
            </p:extLst>
          </p:nvPr>
        </p:nvGraphicFramePr>
        <p:xfrm>
          <a:off x="3411793" y="1986116"/>
          <a:ext cx="5525730" cy="371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865">
                  <a:extLst>
                    <a:ext uri="{9D8B030D-6E8A-4147-A177-3AD203B41FA5}">
                      <a16:colId xmlns:a16="http://schemas.microsoft.com/office/drawing/2014/main" val="3429684118"/>
                    </a:ext>
                  </a:extLst>
                </a:gridCol>
                <a:gridCol w="2762865">
                  <a:extLst>
                    <a:ext uri="{9D8B030D-6E8A-4147-A177-3AD203B41FA5}">
                      <a16:colId xmlns:a16="http://schemas.microsoft.com/office/drawing/2014/main" val="3478317309"/>
                    </a:ext>
                  </a:extLst>
                </a:gridCol>
              </a:tblGrid>
              <a:tr h="619432">
                <a:tc>
                  <a:txBody>
                    <a:bodyPr/>
                    <a:lstStyle/>
                    <a:p>
                      <a:r>
                        <a:rPr lang="el-GR" dirty="0"/>
                        <a:t>2θ (°)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β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470843"/>
                  </a:ext>
                </a:extLst>
              </a:tr>
              <a:tr h="619432">
                <a:tc>
                  <a:txBody>
                    <a:bodyPr/>
                    <a:lstStyle/>
                    <a:p>
                      <a:r>
                        <a:rPr lang="en-IN" dirty="0"/>
                        <a:t>28.44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885906"/>
                  </a:ext>
                </a:extLst>
              </a:tr>
              <a:tr h="619432">
                <a:tc>
                  <a:txBody>
                    <a:bodyPr/>
                    <a:lstStyle/>
                    <a:p>
                      <a:r>
                        <a:rPr lang="en-IN" dirty="0"/>
                        <a:t>47.30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949939"/>
                  </a:ext>
                </a:extLst>
              </a:tr>
              <a:tr h="619432">
                <a:tc>
                  <a:txBody>
                    <a:bodyPr/>
                    <a:lstStyle/>
                    <a:p>
                      <a:r>
                        <a:rPr lang="en-IN" dirty="0"/>
                        <a:t>56.12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186239"/>
                  </a:ext>
                </a:extLst>
              </a:tr>
              <a:tr h="619432">
                <a:tc>
                  <a:txBody>
                    <a:bodyPr/>
                    <a:lstStyle/>
                    <a:p>
                      <a:r>
                        <a:rPr lang="en-IN" dirty="0"/>
                        <a:t>69.13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847548"/>
                  </a:ext>
                </a:extLst>
              </a:tr>
              <a:tr h="619432">
                <a:tc>
                  <a:txBody>
                    <a:bodyPr/>
                    <a:lstStyle/>
                    <a:p>
                      <a:r>
                        <a:rPr lang="en-IN" dirty="0"/>
                        <a:t>76.38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02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11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0F1A-1BD8-6B52-AEDF-BFA5C03C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To Find </a:t>
            </a:r>
            <a:r>
              <a:rPr lang="el-GR" sz="2800" dirty="0"/>
              <a:t>θ(°) </a:t>
            </a:r>
            <a:r>
              <a:rPr lang="en-IN" sz="2800" dirty="0"/>
              <a:t>,sin</a:t>
            </a:r>
            <a:r>
              <a:rPr lang="el-GR" sz="2800" dirty="0"/>
              <a:t>θ(°) </a:t>
            </a:r>
            <a:r>
              <a:rPr lang="en-IN" sz="2800" dirty="0"/>
              <a:t>,cos</a:t>
            </a:r>
            <a:r>
              <a:rPr lang="el-GR" sz="2800" dirty="0"/>
              <a:t>θ(°) </a:t>
            </a: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F0F29A-7DB7-FE36-B1D5-B036602F63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0722445"/>
              </p:ext>
            </p:extLst>
          </p:nvPr>
        </p:nvGraphicFramePr>
        <p:xfrm>
          <a:off x="501445" y="1825623"/>
          <a:ext cx="3795253" cy="3497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598">
                  <a:extLst>
                    <a:ext uri="{9D8B030D-6E8A-4147-A177-3AD203B41FA5}">
                      <a16:colId xmlns:a16="http://schemas.microsoft.com/office/drawing/2014/main" val="3115075527"/>
                    </a:ext>
                  </a:extLst>
                </a:gridCol>
                <a:gridCol w="1940655">
                  <a:extLst>
                    <a:ext uri="{9D8B030D-6E8A-4147-A177-3AD203B41FA5}">
                      <a16:colId xmlns:a16="http://schemas.microsoft.com/office/drawing/2014/main" val="3756688489"/>
                    </a:ext>
                  </a:extLst>
                </a:gridCol>
              </a:tblGrid>
              <a:tr h="5544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/>
                        <a:t>θ(°) </a:t>
                      </a:r>
                      <a:r>
                        <a:rPr lang="en-IN" dirty="0"/>
                        <a:t>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</a:t>
                      </a:r>
                      <a:r>
                        <a:rPr lang="el-GR" dirty="0"/>
                        <a:t>θ(°)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114412"/>
                  </a:ext>
                </a:extLst>
              </a:tr>
              <a:tr h="5544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28.44 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553070"/>
                  </a:ext>
                </a:extLst>
              </a:tr>
              <a:tr h="5544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47.30 /2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23.65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776723"/>
                  </a:ext>
                </a:extLst>
              </a:tr>
              <a:tr h="5544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56.12 /2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28.06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72220"/>
                  </a:ext>
                </a:extLst>
              </a:tr>
              <a:tr h="5544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69.13 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34.565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649805"/>
                  </a:ext>
                </a:extLst>
              </a:tr>
              <a:tr h="5544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76.38 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38.19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699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8FC4B8-CFAC-A5B9-11FE-3EC541380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853968"/>
              </p:ext>
            </p:extLst>
          </p:nvPr>
        </p:nvGraphicFramePr>
        <p:xfrm>
          <a:off x="4616245" y="1825621"/>
          <a:ext cx="3795252" cy="3497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626">
                  <a:extLst>
                    <a:ext uri="{9D8B030D-6E8A-4147-A177-3AD203B41FA5}">
                      <a16:colId xmlns:a16="http://schemas.microsoft.com/office/drawing/2014/main" val="3961239682"/>
                    </a:ext>
                  </a:extLst>
                </a:gridCol>
                <a:gridCol w="1897626">
                  <a:extLst>
                    <a:ext uri="{9D8B030D-6E8A-4147-A177-3AD203B41FA5}">
                      <a16:colId xmlns:a16="http://schemas.microsoft.com/office/drawing/2014/main" val="3038596339"/>
                    </a:ext>
                  </a:extLst>
                </a:gridCol>
              </a:tblGrid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Sin(</a:t>
                      </a:r>
                      <a:r>
                        <a:rPr lang="el-GR" dirty="0"/>
                        <a:t>θ(°) 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sin</a:t>
                      </a:r>
                      <a:r>
                        <a:rPr lang="el-GR" dirty="0"/>
                        <a:t>θ(°)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22130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Sin(14.22)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0.2436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734324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Sin(23.65)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0.4011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848146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Sin(28.06)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0.4703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88622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Sin(34.565)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0.5673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8255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Sin(28.19)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0.6182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6670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1889F0-54ED-445C-ED0D-7152042C9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712852"/>
              </p:ext>
            </p:extLst>
          </p:nvPr>
        </p:nvGraphicFramePr>
        <p:xfrm>
          <a:off x="8622890" y="1825621"/>
          <a:ext cx="3480620" cy="3497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310">
                  <a:extLst>
                    <a:ext uri="{9D8B030D-6E8A-4147-A177-3AD203B41FA5}">
                      <a16:colId xmlns:a16="http://schemas.microsoft.com/office/drawing/2014/main" val="3702863785"/>
                    </a:ext>
                  </a:extLst>
                </a:gridCol>
                <a:gridCol w="1740310">
                  <a:extLst>
                    <a:ext uri="{9D8B030D-6E8A-4147-A177-3AD203B41FA5}">
                      <a16:colId xmlns:a16="http://schemas.microsoft.com/office/drawing/2014/main" val="1536280953"/>
                    </a:ext>
                  </a:extLst>
                </a:gridCol>
              </a:tblGrid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Cos(</a:t>
                      </a:r>
                      <a:r>
                        <a:rPr lang="el-GR" dirty="0"/>
                        <a:t>θ(°) 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cos</a:t>
                      </a:r>
                      <a:r>
                        <a:rPr lang="el-GR" dirty="0"/>
                        <a:t>θ(°)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79133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Cos(14.22)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0.9693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011018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Cos(23.65)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309030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Cos(28.06)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0.8824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47296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Cos(34.565)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0.8234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782326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Cos(28.19)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0.7859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859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56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F0CEB-34A5-B6F4-672B-EDD1C0F16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Find interplanar 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05753-661F-49E5-0633-BFC9C78BF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1253331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2dsin</a:t>
            </a:r>
            <a:r>
              <a:rPr lang="el-GR" dirty="0"/>
              <a:t>θ(°) </a:t>
            </a:r>
            <a:r>
              <a:rPr lang="en-IN" dirty="0"/>
              <a:t>=n</a:t>
            </a:r>
            <a:r>
              <a:rPr lang="el-GR" dirty="0"/>
              <a:t>λ</a:t>
            </a:r>
            <a:endParaRPr lang="en-IN" dirty="0"/>
          </a:p>
          <a:p>
            <a:pPr marL="0" indent="0" algn="just">
              <a:buNone/>
            </a:pPr>
            <a:r>
              <a:rPr lang="en-IN" dirty="0">
                <a:solidFill>
                  <a:srgbClr val="FF0000"/>
                </a:solidFill>
              </a:rPr>
              <a:t>d=n</a:t>
            </a:r>
            <a:r>
              <a:rPr lang="el-GR" dirty="0">
                <a:solidFill>
                  <a:srgbClr val="FF0000"/>
                </a:solidFill>
              </a:rPr>
              <a:t>λ</a:t>
            </a:r>
            <a:r>
              <a:rPr lang="en-IN" dirty="0">
                <a:solidFill>
                  <a:srgbClr val="FF0000"/>
                </a:solidFill>
              </a:rPr>
              <a:t>/2sin</a:t>
            </a:r>
            <a:r>
              <a:rPr lang="el-GR" dirty="0">
                <a:solidFill>
                  <a:srgbClr val="FF0000"/>
                </a:solidFill>
              </a:rPr>
              <a:t> θ(°) </a:t>
            </a:r>
            <a:r>
              <a:rPr lang="en-IN" dirty="0">
                <a:solidFill>
                  <a:srgbClr val="FF0000"/>
                </a:solidFill>
              </a:rPr>
              <a:t>        </a:t>
            </a:r>
            <a:r>
              <a:rPr lang="en-IN" dirty="0"/>
              <a:t>where (</a:t>
            </a:r>
            <a:r>
              <a:rPr lang="el-GR" dirty="0"/>
              <a:t>λ</a:t>
            </a:r>
            <a:r>
              <a:rPr lang="en-IN" dirty="0"/>
              <a:t>=5406Å)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525928-8D12-061E-33C0-C72F09AC1D0D}"/>
              </a:ext>
            </a:extLst>
          </p:cNvPr>
          <p:cNvSpPr txBox="1">
            <a:spLocks/>
          </p:cNvSpPr>
          <p:nvPr/>
        </p:nvSpPr>
        <p:spPr>
          <a:xfrm>
            <a:off x="892277" y="2418735"/>
            <a:ext cx="10515600" cy="3338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1.d=1*5406/2*0.2456   =   3.136Å</a:t>
            </a:r>
          </a:p>
          <a:p>
            <a:pPr marL="0" indent="0">
              <a:buNone/>
            </a:pPr>
            <a:r>
              <a:rPr lang="en-IN" dirty="0"/>
              <a:t>2.d=1*5406/2*0.4011   =   1.920Å</a:t>
            </a:r>
          </a:p>
          <a:p>
            <a:pPr marL="0" indent="0">
              <a:buNone/>
            </a:pPr>
            <a:r>
              <a:rPr lang="en-IN" dirty="0"/>
              <a:t>3.d=1*5406/2*0.4703   =   1.637Å</a:t>
            </a:r>
          </a:p>
          <a:p>
            <a:pPr marL="0" indent="0">
              <a:buNone/>
            </a:pPr>
            <a:r>
              <a:rPr lang="en-IN" dirty="0"/>
              <a:t>4.d=1*5406/2*0.5673   =   1.357Å</a:t>
            </a:r>
          </a:p>
          <a:p>
            <a:pPr marL="0" indent="0">
              <a:buNone/>
            </a:pPr>
            <a:r>
              <a:rPr lang="en-IN" dirty="0"/>
              <a:t>5.d=1*5406/2*0.6182   =   1.246Å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712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BD94-AACC-42B2-C8D7-1B945A2F5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Particle size determination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E10B4-4319-BB07-F9F5-A7AD35DAC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Scherrer formula  D=k</a:t>
            </a:r>
            <a:r>
              <a:rPr lang="el-GR" dirty="0"/>
              <a:t> λ</a:t>
            </a:r>
            <a:r>
              <a:rPr lang="en-IN" dirty="0"/>
              <a:t>/</a:t>
            </a:r>
            <a:r>
              <a:rPr lang="el-GR" dirty="0"/>
              <a:t> β</a:t>
            </a:r>
            <a:r>
              <a:rPr lang="en-IN" dirty="0"/>
              <a:t>cos</a:t>
            </a:r>
            <a:r>
              <a:rPr lang="el-GR" dirty="0"/>
              <a:t> θ (°) </a:t>
            </a:r>
            <a:r>
              <a:rPr lang="en-IN" dirty="0"/>
              <a:t>                       where(k=0.9)</a:t>
            </a:r>
          </a:p>
          <a:p>
            <a:pPr marL="0" indent="0">
              <a:buNone/>
            </a:pPr>
            <a:r>
              <a:rPr lang="en-IN" dirty="0"/>
              <a:t>1. D=0.9*1.5406/0.162*0.9693   =   8.829Å</a:t>
            </a:r>
          </a:p>
          <a:p>
            <a:pPr marL="0" indent="0">
              <a:buNone/>
            </a:pPr>
            <a:r>
              <a:rPr lang="en-IN" dirty="0"/>
              <a:t>2. D=0.9*1.5406/0.174*0.9160   =   8.729Å</a:t>
            </a:r>
          </a:p>
          <a:p>
            <a:pPr marL="0" indent="0">
              <a:buNone/>
            </a:pPr>
            <a:r>
              <a:rPr lang="en-IN" dirty="0"/>
              <a:t>3. D=0.9*1.5406/0.179*0.8824   =   8.778Å</a:t>
            </a:r>
          </a:p>
          <a:p>
            <a:pPr marL="0" indent="0">
              <a:buNone/>
            </a:pPr>
            <a:r>
              <a:rPr lang="en-IN" dirty="0"/>
              <a:t>4. D=0.9*1.5406/0.185*0.8234   =   9.134Å</a:t>
            </a:r>
          </a:p>
          <a:p>
            <a:pPr marL="0" indent="0">
              <a:buNone/>
            </a:pPr>
            <a:r>
              <a:rPr lang="en-IN" dirty="0"/>
              <a:t>5. D=0.9*1.5406/0.188*0.7859   =   9.384Å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566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8D5833A-21CF-0EEE-5244-6AF98690B4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74406" y="3320127"/>
                <a:ext cx="10515600" cy="2761533"/>
              </a:xfrm>
            </p:spPr>
            <p:txBody>
              <a:bodyPr>
                <a:noAutofit/>
              </a:bodyPr>
              <a:lstStyle/>
              <a:p>
                <a:r>
                  <a:rPr lang="en-IN" sz="2400" dirty="0">
                    <a:solidFill>
                      <a:srgbClr val="FF0000"/>
                    </a:solidFill>
                  </a:rPr>
                  <a:t>Find lattice parameter</a:t>
                </a:r>
                <a:br>
                  <a:rPr lang="en-IN" sz="2400" dirty="0"/>
                </a:br>
                <a:r>
                  <a:rPr lang="en-IN" sz="2400" dirty="0"/>
                  <a:t>a=</a:t>
                </a:r>
                <a:r>
                  <a:rPr lang="en-IN" sz="2400" dirty="0" err="1"/>
                  <a:t>d√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1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1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IN" sz="2400" b="1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br>
                  <a:rPr lang="en-IN" sz="2400" dirty="0"/>
                </a:br>
                <a:r>
                  <a:rPr lang="en-IN" sz="2400" dirty="0"/>
                  <a:t>1. a=3.136 √ 0+0+1   =   3.136Å</a:t>
                </a:r>
                <a:br>
                  <a:rPr lang="en-IN" sz="2400" dirty="0"/>
                </a:br>
                <a:r>
                  <a:rPr lang="en-IN" sz="2400" dirty="0"/>
                  <a:t>2. a=1.920 √ 1+1+1   =   3.325Å</a:t>
                </a:r>
                <a:br>
                  <a:rPr lang="en-IN" sz="2400" dirty="0"/>
                </a:br>
                <a:r>
                  <a:rPr lang="en-IN" sz="2400" dirty="0"/>
                  <a:t>3. a=1.637 √ 4+0+0   =   3.274Å</a:t>
                </a:r>
                <a:br>
                  <a:rPr lang="en-IN" sz="2400" dirty="0"/>
                </a:br>
                <a:r>
                  <a:rPr lang="en-IN" sz="2400" dirty="0"/>
                  <a:t>4. a=1.357 √ 4+1+0   =   3.034 Å</a:t>
                </a:r>
                <a:br>
                  <a:rPr lang="en-IN" sz="2400" dirty="0"/>
                </a:br>
                <a:r>
                  <a:rPr lang="en-IN" sz="2400" dirty="0"/>
                  <a:t>5. a=1.246 √ 4+1+1   =   3.052Å</a:t>
                </a:r>
                <a:br>
                  <a:rPr lang="en-IN" sz="2400" dirty="0"/>
                </a:br>
                <a:br>
                  <a:rPr lang="en-IN" sz="2400" dirty="0"/>
                </a:br>
                <a:r>
                  <a:rPr lang="en-IN" sz="2400" dirty="0"/>
                  <a:t>Mean of a=3.136+3.325+3.274+ 3.034+3.052/5</a:t>
                </a:r>
                <a:br>
                  <a:rPr lang="en-IN" sz="2400" dirty="0"/>
                </a:br>
                <a:r>
                  <a:rPr lang="en-IN" sz="2400" dirty="0"/>
                  <a:t>                    =3.1642 Å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8D5833A-21CF-0EEE-5244-6AF98690B4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74406" y="3320127"/>
                <a:ext cx="10515600" cy="2761533"/>
              </a:xfrm>
              <a:blipFill>
                <a:blip r:embed="rId2"/>
                <a:stretch>
                  <a:fillRect l="-928" t="-14349" b="-16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19B2637-9AD6-C635-C812-E52CF999742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56040882"/>
                  </p:ext>
                </p:extLst>
              </p:nvPr>
            </p:nvGraphicFramePr>
            <p:xfrm>
              <a:off x="838200" y="365125"/>
              <a:ext cx="7194756" cy="2441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689">
                      <a:extLst>
                        <a:ext uri="{9D8B030D-6E8A-4147-A177-3AD203B41FA5}">
                          <a16:colId xmlns:a16="http://schemas.microsoft.com/office/drawing/2014/main" val="1206446545"/>
                        </a:ext>
                      </a:extLst>
                    </a:gridCol>
                    <a:gridCol w="1798689">
                      <a:extLst>
                        <a:ext uri="{9D8B030D-6E8A-4147-A177-3AD203B41FA5}">
                          <a16:colId xmlns:a16="http://schemas.microsoft.com/office/drawing/2014/main" val="1845225148"/>
                        </a:ext>
                      </a:extLst>
                    </a:gridCol>
                    <a:gridCol w="1798689">
                      <a:extLst>
                        <a:ext uri="{9D8B030D-6E8A-4147-A177-3AD203B41FA5}">
                          <a16:colId xmlns:a16="http://schemas.microsoft.com/office/drawing/2014/main" val="4282606205"/>
                        </a:ext>
                      </a:extLst>
                    </a:gridCol>
                    <a:gridCol w="1798689">
                      <a:extLst>
                        <a:ext uri="{9D8B030D-6E8A-4147-A177-3AD203B41FA5}">
                          <a16:colId xmlns:a16="http://schemas.microsoft.com/office/drawing/2014/main" val="3885069930"/>
                        </a:ext>
                      </a:extLst>
                    </a:gridCol>
                  </a:tblGrid>
                  <a:tr h="48563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sin</a:t>
                          </a:r>
                          <a:r>
                            <a:rPr lang="el-GR" dirty="0"/>
                            <a:t>θ (°) 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Ratio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ar-AE" sz="1800" b="1" i="1" kern="1200" smtClean="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1800" b="1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ar-AE" sz="1800" b="1" i="0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ar-AE" sz="1800" b="1" i="0" kern="120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ar-AE" sz="1800" b="1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1800" b="1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ar-AE" sz="1800" b="1" i="0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ar-AE" sz="1800" b="1" i="0" kern="120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ar-AE" sz="1800" b="1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1800" b="1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ar-AE" sz="1800" b="1" i="0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AE" dirty="0">
                            <a:effectLst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n-IN" dirty="0">
                              <a:effectLst/>
                            </a:rPr>
                            <a:t>(</a:t>
                          </a:r>
                          <a:r>
                            <a:rPr lang="en-IN" dirty="0" err="1">
                              <a:effectLst/>
                            </a:rPr>
                            <a:t>h,k,l</a:t>
                          </a:r>
                          <a:r>
                            <a:rPr lang="en-IN" dirty="0">
                              <a:effectLst/>
                            </a:rPr>
                            <a:t>)</a:t>
                          </a:r>
                          <a:endParaRPr lang="ar-AE" dirty="0">
                            <a:effectLst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1381009"/>
                      </a:ext>
                    </a:extLst>
                  </a:tr>
                  <a:tr h="391188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0.063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(0 0 1)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8512832"/>
                      </a:ext>
                    </a:extLst>
                  </a:tr>
                  <a:tr h="391188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0.1608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2.66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(1 1 1)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0109881"/>
                      </a:ext>
                    </a:extLst>
                  </a:tr>
                  <a:tr h="391188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0.221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3.66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(2 0 0)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9756201"/>
                      </a:ext>
                    </a:extLst>
                  </a:tr>
                  <a:tr h="391188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0.3218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5.3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(2 1 0)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7476729"/>
                      </a:ext>
                    </a:extLst>
                  </a:tr>
                  <a:tr h="391188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0.3821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6.36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(2 1 1)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0472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19B2637-9AD6-C635-C812-E52CF999742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56040882"/>
                  </p:ext>
                </p:extLst>
              </p:nvPr>
            </p:nvGraphicFramePr>
            <p:xfrm>
              <a:off x="838200" y="365125"/>
              <a:ext cx="7194756" cy="24415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689">
                      <a:extLst>
                        <a:ext uri="{9D8B030D-6E8A-4147-A177-3AD203B41FA5}">
                          <a16:colId xmlns:a16="http://schemas.microsoft.com/office/drawing/2014/main" val="1206446545"/>
                        </a:ext>
                      </a:extLst>
                    </a:gridCol>
                    <a:gridCol w="1798689">
                      <a:extLst>
                        <a:ext uri="{9D8B030D-6E8A-4147-A177-3AD203B41FA5}">
                          <a16:colId xmlns:a16="http://schemas.microsoft.com/office/drawing/2014/main" val="1845225148"/>
                        </a:ext>
                      </a:extLst>
                    </a:gridCol>
                    <a:gridCol w="1798689">
                      <a:extLst>
                        <a:ext uri="{9D8B030D-6E8A-4147-A177-3AD203B41FA5}">
                          <a16:colId xmlns:a16="http://schemas.microsoft.com/office/drawing/2014/main" val="4282606205"/>
                        </a:ext>
                      </a:extLst>
                    </a:gridCol>
                    <a:gridCol w="1798689">
                      <a:extLst>
                        <a:ext uri="{9D8B030D-6E8A-4147-A177-3AD203B41FA5}">
                          <a16:colId xmlns:a16="http://schemas.microsoft.com/office/drawing/2014/main" val="3885069930"/>
                        </a:ext>
                      </a:extLst>
                    </a:gridCol>
                  </a:tblGrid>
                  <a:tr h="48563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sin</a:t>
                          </a:r>
                          <a:r>
                            <a:rPr lang="el-GR" dirty="0"/>
                            <a:t>θ (°) 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Ratio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678" t="-5000" r="-101356" b="-4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n-IN" dirty="0">
                              <a:effectLst/>
                            </a:rPr>
                            <a:t>(</a:t>
                          </a:r>
                          <a:r>
                            <a:rPr lang="en-IN" dirty="0" err="1">
                              <a:effectLst/>
                            </a:rPr>
                            <a:t>h,k,l</a:t>
                          </a:r>
                          <a:r>
                            <a:rPr lang="en-IN" dirty="0">
                              <a:effectLst/>
                            </a:rPr>
                            <a:t>)</a:t>
                          </a:r>
                          <a:endParaRPr lang="ar-AE" dirty="0">
                            <a:effectLst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1381009"/>
                      </a:ext>
                    </a:extLst>
                  </a:tr>
                  <a:tr h="391188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0.063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(0 0 1)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8512832"/>
                      </a:ext>
                    </a:extLst>
                  </a:tr>
                  <a:tr h="391188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0.1608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2.66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(1 1 1)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0109881"/>
                      </a:ext>
                    </a:extLst>
                  </a:tr>
                  <a:tr h="391188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0.221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3.66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(2 0 0)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9756201"/>
                      </a:ext>
                    </a:extLst>
                  </a:tr>
                  <a:tr h="391188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0.3218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5.3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(2 1 0)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7476729"/>
                      </a:ext>
                    </a:extLst>
                  </a:tr>
                  <a:tr h="391188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0.3821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6.36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(2 1 1)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0472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1321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C1E15-A09B-4BF9-6C06-2D8DA4B4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413E4-64DF-258F-2412-5D019060F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Result</a:t>
            </a:r>
          </a:p>
          <a:p>
            <a:r>
              <a:rPr lang="en-IN" dirty="0"/>
              <a:t>The crystal is </a:t>
            </a:r>
            <a:r>
              <a:rPr lang="en-IN" b="1" dirty="0"/>
              <a:t>Gallium Nitride.</a:t>
            </a:r>
          </a:p>
          <a:p>
            <a:r>
              <a:rPr lang="en-IN" dirty="0"/>
              <a:t>Crystal structure is </a:t>
            </a:r>
            <a:r>
              <a:rPr lang="en-IN" b="1" dirty="0"/>
              <a:t>Hexagonal crystal structure.</a:t>
            </a:r>
          </a:p>
        </p:txBody>
      </p:sp>
    </p:spTree>
    <p:extLst>
      <p:ext uri="{BB962C8B-B14F-4D97-AF65-F5344CB8AC3E}">
        <p14:creationId xmlns:p14="http://schemas.microsoft.com/office/powerpoint/2010/main" val="3459209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Hjkfqeqejbfqf </vt:lpstr>
      <vt:lpstr>PowerPoint Presentation</vt:lpstr>
      <vt:lpstr>Calculate interplanar distance, crystal size (grain size), hkl value, lattice parameter and crystal structure. Given as 2 θ and β value.</vt:lpstr>
      <vt:lpstr>To Find θ(°) ,sinθ(°) ,cosθ(°) </vt:lpstr>
      <vt:lpstr>Find interplanar spacing</vt:lpstr>
      <vt:lpstr>Particle size determination</vt:lpstr>
      <vt:lpstr>Find lattice parameter a=d√h^2 1. a=3.136 √ 0+0+1   =   3.136Å 2. a=1.920 √ 1+1+1   =   3.325Å 3. a=1.637 √ 4+0+0   =   3.274Å 4. a=1.357 √ 4+1+0   =   3.034 Å 5. a=1.246 √ 4+1+1   =   3.052Å  Mean of a=3.136+3.325+3.274+ 3.034+3.052/5                     =3.1642 Å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Sowmiya R</dc:creator>
  <cp:lastModifiedBy>Sowmiya R</cp:lastModifiedBy>
  <cp:revision>3</cp:revision>
  <dcterms:created xsi:type="dcterms:W3CDTF">2025-11-19T17:23:53Z</dcterms:created>
  <dcterms:modified xsi:type="dcterms:W3CDTF">2025-11-20T05:57:52Z</dcterms:modified>
</cp:coreProperties>
</file>